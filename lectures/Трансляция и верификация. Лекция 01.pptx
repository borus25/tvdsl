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20"/>
  </p:notesMasterIdLst>
  <p:sldIdLst>
    <p:sldId id="256" r:id="rId2"/>
    <p:sldId id="257" r:id="rId3"/>
    <p:sldId id="259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8" r:id="rId16"/>
    <p:sldId id="295" r:id="rId17"/>
    <p:sldId id="296" r:id="rId18"/>
    <p:sldId id="297" r:id="rId19"/>
  </p:sldIdLst>
  <p:sldSz cx="9144000" cy="5143500" type="screen16x9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61" d="100"/>
          <a:sy n="161" d="100"/>
        </p:scale>
        <p:origin x="174" y="13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57F37-7557-4B95-BD83-F914B9DF6C02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26910-2691-45C8-9D4E-CC898081C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412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2503170"/>
            <a:ext cx="6480048" cy="172593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158609"/>
            <a:ext cx="6480048" cy="131445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687878"/>
            <a:ext cx="6629400" cy="1369772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1864350"/>
            <a:ext cx="6629400" cy="800016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4114800"/>
            <a:ext cx="4040188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4114800"/>
            <a:ext cx="4041775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137685"/>
            <a:ext cx="4040188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137685"/>
            <a:ext cx="4041775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89146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4816548"/>
            <a:ext cx="762000" cy="2738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279282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249074"/>
            <a:ext cx="3053866" cy="199761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816548"/>
            <a:ext cx="2133600" cy="273844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7467120" cy="85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7467120" cy="339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7467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4816548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endParaRPr lang="ru-RU" sz="1000" b="0" strike="noStrike" spc="-1">
              <a:latin typeface="Times New Roman"/>
            </a:endParaRPr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4816548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>
              <a:latin typeface="Times New Roman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4816548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vm@iis.nsk.su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0" y="195480"/>
            <a:ext cx="9143640" cy="151164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>
            <a:normAutofit fontScale="775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600" b="1" strike="noStrike" cap="all" spc="-1" dirty="0" err="1">
                <a:solidFill>
                  <a:srgbClr val="A1D4E6"/>
                </a:solidFill>
                <a:latin typeface="Franklin Gothic Book"/>
              </a:rPr>
              <a:t>ТРАНСЛЯЦИя</a:t>
            </a:r>
            <a:br>
              <a:rPr dirty="0"/>
            </a:br>
            <a:r>
              <a:rPr lang="ru-RU" sz="4600" b="1" strike="noStrike" cap="all" spc="-1" dirty="0">
                <a:solidFill>
                  <a:srgbClr val="A1D4E6"/>
                </a:solidFill>
                <a:latin typeface="Franklin Gothic Book"/>
              </a:rPr>
              <a:t>И </a:t>
            </a:r>
            <a:r>
              <a:rPr lang="ru-RU" sz="4600" b="1" strike="noStrike" cap="all" spc="-1" dirty="0" err="1">
                <a:solidFill>
                  <a:srgbClr val="A1D4E6"/>
                </a:solidFill>
                <a:latin typeface="Franklin Gothic Book"/>
              </a:rPr>
              <a:t>ВЕРИФИКАЦИя</a:t>
            </a:r>
            <a:r>
              <a:rPr lang="ru-RU" sz="4600" b="1" strike="noStrike" cap="all" spc="-1" dirty="0">
                <a:solidFill>
                  <a:srgbClr val="A1D4E6"/>
                </a:solidFill>
                <a:latin typeface="Franklin Gothic Book"/>
              </a:rPr>
              <a:t> предметно-ориентированных языков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0" y="1707480"/>
            <a:ext cx="9036000" cy="2736360"/>
          </a:xfrm>
          <a:prstGeom prst="rect">
            <a:avLst/>
          </a:prstGeom>
          <a:noFill/>
          <a:ln>
            <a:noFill/>
          </a:ln>
        </p:spPr>
        <p:txBody>
          <a:bodyPr lIns="90000" tIns="0" rIns="45720" bIns="0">
            <a:normAutofit/>
          </a:bodyPr>
          <a:lstStyle/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Лекция 1.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Введение в трансляцию и компиляторы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Марьясов Илья Владимирович,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доцент, к. ф.-м. н., н. с. лаборатории теоретического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программирования ИСИ СО РАН им. А. П. Ершова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E-mail: </a:t>
            </a:r>
            <a:r>
              <a:rPr lang="en-US" sz="1500" b="0" u="sng" strike="noStrike" spc="-1" dirty="0">
                <a:solidFill>
                  <a:srgbClr val="00C8C3"/>
                </a:solidFill>
                <a:uFillTx/>
                <a:latin typeface="Arial"/>
                <a:hlinkClick r:id="rId2"/>
              </a:rPr>
              <a:t>ivm@iis.nsk.su</a:t>
            </a:r>
            <a:endParaRPr lang="ru-RU" sz="1500" b="0" u="sng" strike="noStrike" spc="-1" dirty="0">
              <a:solidFill>
                <a:srgbClr val="00C8C3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 err="1">
                <a:solidFill>
                  <a:srgbClr val="FFFFFF"/>
                </a:solidFill>
                <a:latin typeface="Arial"/>
              </a:rPr>
              <a:t>З</a:t>
            </a:r>
            <a:r>
              <a:rPr lang="ru-RU" sz="1500" spc="-1" dirty="0" err="1">
                <a:solidFill>
                  <a:srgbClr val="FFFFFF"/>
                </a:solidFill>
                <a:latin typeface="Arial"/>
              </a:rPr>
              <a:t>лыгостев</a:t>
            </a:r>
            <a:r>
              <a:rPr lang="ru-RU" sz="1500" spc="-1" dirty="0">
                <a:solidFill>
                  <a:srgbClr val="FFFFFF"/>
                </a:solidFill>
                <a:latin typeface="Arial"/>
              </a:rPr>
              <a:t> Антон Игоревич</a:t>
            </a: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,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доцент, индустриальный профессор НГУ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E-mail: </a:t>
            </a:r>
            <a:r>
              <a:rPr lang="en-US" sz="1500" b="0" u="sng" strike="noStrike" spc="-1" dirty="0">
                <a:solidFill>
                  <a:srgbClr val="00C8C3"/>
                </a:solidFill>
                <a:uFillTx/>
                <a:latin typeface="Arial"/>
              </a:rPr>
              <a:t>a.zlygostev@g.nsu.ru</a:t>
            </a:r>
            <a:endParaRPr lang="ru-RU" sz="1500" b="0" strike="noStrike" spc="-1" dirty="0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0" y="4443840"/>
            <a:ext cx="9143640" cy="699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4572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FFFFFF"/>
                </a:solidFill>
                <a:latin typeface="Arial"/>
              </a:rPr>
              <a:t>Новосибирский государственный университет, 2026</a:t>
            </a: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О чём этот курс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lnSpcReduction="10000"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теория языков программирования;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основы лексического и синтаксического анализа;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формальная семантика;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знакомство с формальными методами верификации программ;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реализация компилятора небольшого модельного языка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Funny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Практические занятия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/>
          </a:bodyPr>
          <a:lstStyle/>
          <a:p>
            <a:pPr marL="550800" indent="-514080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  <a:buFont typeface="Franklin Gothic Book"/>
              <a:buAutoNum type="arabicPeriod"/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Домашние задания: 7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 × 10 = 70 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баллов.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550800" indent="-514080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  <a:buFont typeface="Franklin Gothic Book"/>
              <a:buAutoNum type="arabicPeriod"/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Контрольные работы: 2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 × 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2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0 = 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4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0 </a:t>
            </a:r>
            <a:r>
              <a:rPr lang="ru-RU" sz="3200" spc="-1" dirty="0">
                <a:solidFill>
                  <a:srgbClr val="FFFFFF"/>
                </a:solidFill>
                <a:latin typeface="Arial"/>
              </a:rPr>
              <a:t>баллов.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550800" indent="-514080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  <a:buFont typeface="Franklin Gothic Book"/>
              <a:buAutoNum type="arabicPeriod"/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Учебный проект: 70 баллов.</a:t>
            </a: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550800" indent="-514080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  <a:buFont typeface="Franklin Gothic Book"/>
              <a:buAutoNum type="arabicPeriod"/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Активность на семинарах: 20 баллов.</a:t>
            </a:r>
          </a:p>
          <a:p>
            <a:pPr marL="36720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ИТОГО: до 200 баллов.</a:t>
            </a:r>
          </a:p>
        </p:txBody>
      </p:sp>
      <p:sp>
        <p:nvSpPr>
          <p:cNvPr id="99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Критерии оценки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/>
          </a:bodyPr>
          <a:lstStyle/>
          <a:p>
            <a:pPr marL="36720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0… 79 — неудовлетворительно;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80… 119 — удовлетворительно;</a:t>
            </a:r>
          </a:p>
          <a:p>
            <a:pPr marL="36720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</a:pP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120… 159 — хорошо;</a:t>
            </a:r>
          </a:p>
          <a:p>
            <a:pPr marL="36720">
              <a:lnSpc>
                <a:spcPct val="100000"/>
              </a:lnSpc>
              <a:spcBef>
                <a:spcPts val="439"/>
              </a:spcBef>
              <a:buClr>
                <a:srgbClr val="6EA0B0"/>
              </a:buClr>
              <a:buSzPct val="80000"/>
            </a:pPr>
            <a:r>
              <a:rPr lang="ru-RU" sz="3200" spc="-1" dirty="0">
                <a:solidFill>
                  <a:srgbClr val="FFFFFF"/>
                </a:solidFill>
                <a:latin typeface="Arial"/>
              </a:rPr>
              <a:t>160… 200 — отлично.</a:t>
            </a:r>
            <a:endParaRPr lang="ru-RU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2403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300" b="0" strike="noStrike" spc="-1" dirty="0">
                <a:solidFill>
                  <a:srgbClr val="FFFFFF"/>
                </a:solidFill>
                <a:latin typeface="Franklin Gothic Book"/>
              </a:rPr>
              <a:t>Предметно-ориентированные языки</a:t>
            </a:r>
            <a:endParaRPr lang="ru-RU" sz="43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Domain-specific language (DSL):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не пытаются быть универсальным;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выражают понятия конкретной области.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116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Для чего нужна трансляция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Программа не исполняется в написанном человеком виде.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Разные архитектуры имеют разный машинный код.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Повышение эффективности.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Безопасность и контролируемость.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ирование и верификация.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4400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Трансляция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Компиляция — преобразование исходной программы в исполнимый целевой код.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Интерпретация — исполнение исходной программы по мере продвижения по её тексту.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3188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Классификация инструментов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775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Ассемблер транслирует текст ассемблера в объектный код с машинными инструкциями и таблицами ссылок.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Компоновщик (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linker)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объединяет объектные модули и библиотеки, разрешает внешние имена и формирует исполнимый файл или библиотеку.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Загрузчик (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loader)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размещает программу и зависимости в памяти, выполняет необходимые перемещение адресов и передаёт управление точке входа.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141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Классификация инструментов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925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Предварительная компиляция (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ahead-of-time compilation, AOT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)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 выполняет основную генерацию до запуска.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Динамическая компиляция (</a:t>
            </a:r>
            <a:r>
              <a:rPr lang="ru-RU" sz="3000" b="0" strike="noStrike" spc="-1" dirty="0" err="1">
                <a:solidFill>
                  <a:srgbClr val="FFFFFF"/>
                </a:solidFill>
                <a:latin typeface="Arial"/>
              </a:rPr>
              <a:t>just-in-time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b="0" strike="noStrike" spc="-1" dirty="0" err="1">
                <a:solidFill>
                  <a:srgbClr val="FFFFFF"/>
                </a:solidFill>
                <a:latin typeface="Arial"/>
              </a:rPr>
              <a:t>compilation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, JIT) переводит и специализирует код во время исполнения, используя сведения о реально встреченных типах и «горячих» участках.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927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Виртуальная машина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85000" lnSpcReduction="1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Виртуальная машина (</a:t>
            </a:r>
            <a:r>
              <a:rPr lang="ru-RU" sz="3000" b="0" strike="noStrike" spc="-1" dirty="0" err="1">
                <a:solidFill>
                  <a:srgbClr val="FFFFFF"/>
                </a:solidFill>
                <a:latin typeface="Arial"/>
              </a:rPr>
              <a:t>virtual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b="0" strike="noStrike" spc="-1" dirty="0" err="1">
                <a:solidFill>
                  <a:srgbClr val="FFFFFF"/>
                </a:solidFill>
                <a:latin typeface="Arial"/>
              </a:rPr>
              <a:t>machine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, VM) задаёт программную модель процессора и среды исполнения.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Стековая ВМ хранит промежуточные операнды на стеке и использует компактные инструкции.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Регистровая ВМ явно называет виртуальные регистры; её инструкции обычно длиннее, но требуют меньше пересылок через стек.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7044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200" b="0" strike="noStrike" spc="-1" dirty="0">
                <a:solidFill>
                  <a:srgbClr val="FFFFFF"/>
                </a:solidFill>
                <a:latin typeface="Franklin Gothic Book"/>
              </a:rPr>
              <a:t>Общая схема конвейера трансляции</a:t>
            </a:r>
            <a:endParaRPr lang="ru-RU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70000" lnSpcReduction="20000"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Front-end —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понимание исходного языка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: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какие лексемы присутствуют в тексте, какую синтаксическую структуру они образуют и к каким сущностям относятся имена, типы и сигнатуры.</a:t>
            </a:r>
            <a:endParaRPr lang="en-US" sz="3000" b="0" strike="noStrike" spc="-1" dirty="0">
              <a:solidFill>
                <a:srgbClr val="FFFFFF"/>
              </a:solidFill>
              <a:latin typeface="Arial"/>
            </a:endParaRP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en-US" sz="3000" spc="-1" dirty="0">
                <a:solidFill>
                  <a:srgbClr val="FFFFFF"/>
                </a:solidFill>
                <a:latin typeface="Arial"/>
              </a:rPr>
              <a:t>Middle-end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работает с внутренним представлением, удобным для анализа и преобразований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: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нормализует код, строит графы потока управления, выполняет анализы данных и оптимизации, готовит представление к генерации целевого результата.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Back-end: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переход к ограничениям целевой платформы: выбор инструкций, организаци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я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 переходов и вызовов, размещение значений по слотам или регистрам и выпуск финального исполнимого или проверяемого представления.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432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600" b="0" strike="noStrike" spc="-1" dirty="0">
                <a:solidFill>
                  <a:srgbClr val="FFFFFF"/>
                </a:solidFill>
                <a:latin typeface="Franklin Gothic Book"/>
              </a:rPr>
              <a:t>Front-end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92500" lnSpcReduction="10000"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Лексический анализ: преобразует поток символов в поток токенов.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Синтаксический анализ: строит дерево синтаксического разбора (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abstract syntax tree, AST).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Семантический анализ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: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 разрешает имена, проверяет типы и контекстные ограничения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готовит аннотированное дерево и таблицы символов к передаче в </a:t>
            </a:r>
            <a:r>
              <a:rPr lang="ru-RU" sz="3000" b="0" strike="noStrike" spc="-1" dirty="0" err="1">
                <a:solidFill>
                  <a:srgbClr val="FFFFFF"/>
                </a:solidFill>
                <a:latin typeface="Arial"/>
              </a:rPr>
              <a:t>middle-end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9523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Блок-схема: знак завершения 11">
            <a:extLst>
              <a:ext uri="{FF2B5EF4-FFF2-40B4-BE49-F238E27FC236}">
                <a16:creationId xmlns:a16="http://schemas.microsoft.com/office/drawing/2014/main" id="{305B78E9-17BF-E209-048D-89F53FC63F71}"/>
              </a:ext>
            </a:extLst>
          </p:cNvPr>
          <p:cNvSpPr/>
          <p:nvPr/>
        </p:nvSpPr>
        <p:spPr>
          <a:xfrm>
            <a:off x="186000" y="987534"/>
            <a:ext cx="6186199" cy="1584216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ru-RU" dirty="0"/>
          </a:p>
        </p:txBody>
      </p:sp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200" b="0" strike="noStrike" spc="-1" dirty="0">
                <a:solidFill>
                  <a:srgbClr val="FFFFFF"/>
                </a:solidFill>
                <a:latin typeface="Franklin Gothic Book"/>
              </a:rPr>
              <a:t>Общая схема конвейера трансляции</a:t>
            </a:r>
            <a:endParaRPr lang="ru-RU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Блок-схема: процесс 5">
            <a:extLst>
              <a:ext uri="{FF2B5EF4-FFF2-40B4-BE49-F238E27FC236}">
                <a16:creationId xmlns:a16="http://schemas.microsoft.com/office/drawing/2014/main" id="{6A86AA20-8ADB-EC0A-08CD-EBE52CA48FF9}"/>
              </a:ext>
            </a:extLst>
          </p:cNvPr>
          <p:cNvSpPr/>
          <p:nvPr/>
        </p:nvSpPr>
        <p:spPr>
          <a:xfrm>
            <a:off x="899592" y="1635648"/>
            <a:ext cx="1008112" cy="64807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Лексер</a:t>
            </a:r>
            <a:endParaRPr lang="ru-RU" dirty="0"/>
          </a:p>
        </p:txBody>
      </p:sp>
      <p:sp>
        <p:nvSpPr>
          <p:cNvPr id="7" name="Блок-схема: процесс 6">
            <a:extLst>
              <a:ext uri="{FF2B5EF4-FFF2-40B4-BE49-F238E27FC236}">
                <a16:creationId xmlns:a16="http://schemas.microsoft.com/office/drawing/2014/main" id="{A6A93B90-9633-C1DF-223C-96B96FA8360D}"/>
              </a:ext>
            </a:extLst>
          </p:cNvPr>
          <p:cNvSpPr/>
          <p:nvPr/>
        </p:nvSpPr>
        <p:spPr>
          <a:xfrm>
            <a:off x="2555776" y="1634040"/>
            <a:ext cx="1008112" cy="64807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Парсер</a:t>
            </a:r>
          </a:p>
        </p:txBody>
      </p:sp>
      <p:sp>
        <p:nvSpPr>
          <p:cNvPr id="8" name="Блок-схема: процесс 7">
            <a:extLst>
              <a:ext uri="{FF2B5EF4-FFF2-40B4-BE49-F238E27FC236}">
                <a16:creationId xmlns:a16="http://schemas.microsoft.com/office/drawing/2014/main" id="{37B832D4-BFD3-40C0-1CCD-7EBC4B1E3ABB}"/>
              </a:ext>
            </a:extLst>
          </p:cNvPr>
          <p:cNvSpPr/>
          <p:nvPr/>
        </p:nvSpPr>
        <p:spPr>
          <a:xfrm>
            <a:off x="4211960" y="1634040"/>
            <a:ext cx="1576825" cy="648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Анализатор</a:t>
            </a:r>
          </a:p>
          <a:p>
            <a:pPr algn="ctr"/>
            <a:r>
              <a:rPr lang="ru-RU" dirty="0"/>
              <a:t>семантики</a:t>
            </a: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AFB6FCC8-C1C5-AFE6-E8F2-65C6E5BFEAA6}"/>
              </a:ext>
            </a:extLst>
          </p:cNvPr>
          <p:cNvSpPr/>
          <p:nvPr/>
        </p:nvSpPr>
        <p:spPr>
          <a:xfrm>
            <a:off x="1907704" y="1840348"/>
            <a:ext cx="648072" cy="227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4169B281-5664-920E-D396-335E72428C5A}"/>
              </a:ext>
            </a:extLst>
          </p:cNvPr>
          <p:cNvSpPr/>
          <p:nvPr/>
        </p:nvSpPr>
        <p:spPr>
          <a:xfrm>
            <a:off x="3563888" y="1840348"/>
            <a:ext cx="648072" cy="227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лок-схема: знак завершения 12">
            <a:extLst>
              <a:ext uri="{FF2B5EF4-FFF2-40B4-BE49-F238E27FC236}">
                <a16:creationId xmlns:a16="http://schemas.microsoft.com/office/drawing/2014/main" id="{7B9A02A2-09A4-2FFD-87FB-9E0BFB251285}"/>
              </a:ext>
            </a:extLst>
          </p:cNvPr>
          <p:cNvSpPr/>
          <p:nvPr/>
        </p:nvSpPr>
        <p:spPr>
          <a:xfrm>
            <a:off x="2339752" y="3040936"/>
            <a:ext cx="2585799" cy="7655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Middle-end</a:t>
            </a:r>
            <a:endParaRPr lang="ru-RU" dirty="0"/>
          </a:p>
        </p:txBody>
      </p:sp>
      <p:sp>
        <p:nvSpPr>
          <p:cNvPr id="14" name="Блок-схема: знак завершения 13">
            <a:extLst>
              <a:ext uri="{FF2B5EF4-FFF2-40B4-BE49-F238E27FC236}">
                <a16:creationId xmlns:a16="http://schemas.microsoft.com/office/drawing/2014/main" id="{23393F63-3702-B3BE-4DEF-7B3C1900E714}"/>
              </a:ext>
            </a:extLst>
          </p:cNvPr>
          <p:cNvSpPr/>
          <p:nvPr/>
        </p:nvSpPr>
        <p:spPr>
          <a:xfrm>
            <a:off x="5508104" y="3928688"/>
            <a:ext cx="2585799" cy="7655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Back-end</a:t>
            </a:r>
            <a:endParaRPr lang="ru-RU" dirty="0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16A2E227-D019-8137-7538-F6129E8640A8}"/>
              </a:ext>
            </a:extLst>
          </p:cNvPr>
          <p:cNvSpPr/>
          <p:nvPr/>
        </p:nvSpPr>
        <p:spPr>
          <a:xfrm rot="5400000">
            <a:off x="3351045" y="2654985"/>
            <a:ext cx="467326" cy="304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37B3B770-C18C-31F2-484E-35D48BEFF738}"/>
              </a:ext>
            </a:extLst>
          </p:cNvPr>
          <p:cNvSpPr/>
          <p:nvPr/>
        </p:nvSpPr>
        <p:spPr>
          <a:xfrm rot="1644159">
            <a:off x="4808473" y="3672372"/>
            <a:ext cx="884805" cy="304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692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200" b="0" strike="noStrike" spc="-1" dirty="0">
                <a:solidFill>
                  <a:srgbClr val="FFFFFF"/>
                </a:solidFill>
                <a:latin typeface="Franklin Gothic Book"/>
              </a:rPr>
              <a:t>Представления программы</a:t>
            </a:r>
            <a:endParaRPr lang="ru-RU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Блок-схема: процесс 5">
            <a:extLst>
              <a:ext uri="{FF2B5EF4-FFF2-40B4-BE49-F238E27FC236}">
                <a16:creationId xmlns:a16="http://schemas.microsoft.com/office/drawing/2014/main" id="{6A86AA20-8ADB-EC0A-08CD-EBE52CA48FF9}"/>
              </a:ext>
            </a:extLst>
          </p:cNvPr>
          <p:cNvSpPr/>
          <p:nvPr/>
        </p:nvSpPr>
        <p:spPr>
          <a:xfrm>
            <a:off x="232239" y="1108662"/>
            <a:ext cx="1340275" cy="7316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Исходный текст</a:t>
            </a:r>
          </a:p>
        </p:txBody>
      </p:sp>
      <p:sp>
        <p:nvSpPr>
          <p:cNvPr id="7" name="Блок-схема: процесс 6">
            <a:extLst>
              <a:ext uri="{FF2B5EF4-FFF2-40B4-BE49-F238E27FC236}">
                <a16:creationId xmlns:a16="http://schemas.microsoft.com/office/drawing/2014/main" id="{A6A93B90-9633-C1DF-223C-96B96FA8360D}"/>
              </a:ext>
            </a:extLst>
          </p:cNvPr>
          <p:cNvSpPr/>
          <p:nvPr/>
        </p:nvSpPr>
        <p:spPr>
          <a:xfrm>
            <a:off x="1540702" y="2938713"/>
            <a:ext cx="1080120" cy="79369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Поток</a:t>
            </a:r>
          </a:p>
          <a:p>
            <a:pPr algn="ctr"/>
            <a:r>
              <a:rPr lang="ru-RU" dirty="0"/>
              <a:t>токенов</a:t>
            </a: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AFB6FCC8-C1C5-AFE6-E8F2-65C6E5BFEAA6}"/>
              </a:ext>
            </a:extLst>
          </p:cNvPr>
          <p:cNvSpPr/>
          <p:nvPr/>
        </p:nvSpPr>
        <p:spPr>
          <a:xfrm rot="4174755">
            <a:off x="995780" y="2276251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Блок-схема: процесс 1">
            <a:extLst>
              <a:ext uri="{FF2B5EF4-FFF2-40B4-BE49-F238E27FC236}">
                <a16:creationId xmlns:a16="http://schemas.microsoft.com/office/drawing/2014/main" id="{E866907D-2F2D-1471-6700-FFF2EE9D7404}"/>
              </a:ext>
            </a:extLst>
          </p:cNvPr>
          <p:cNvSpPr/>
          <p:nvPr/>
        </p:nvSpPr>
        <p:spPr>
          <a:xfrm>
            <a:off x="2620822" y="1108662"/>
            <a:ext cx="799050" cy="73168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AST</a:t>
            </a:r>
            <a:endParaRPr lang="ru-RU" dirty="0"/>
          </a:p>
        </p:txBody>
      </p:sp>
      <p:sp>
        <p:nvSpPr>
          <p:cNvPr id="3" name="Блок-схема: процесс 2">
            <a:extLst>
              <a:ext uri="{FF2B5EF4-FFF2-40B4-BE49-F238E27FC236}">
                <a16:creationId xmlns:a16="http://schemas.microsoft.com/office/drawing/2014/main" id="{E962237F-D94D-5DAE-A0FA-E925677D318F}"/>
              </a:ext>
            </a:extLst>
          </p:cNvPr>
          <p:cNvSpPr/>
          <p:nvPr/>
        </p:nvSpPr>
        <p:spPr>
          <a:xfrm>
            <a:off x="3419872" y="2938714"/>
            <a:ext cx="2013419" cy="79369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Аннотированное</a:t>
            </a:r>
            <a:endParaRPr lang="en-US" dirty="0"/>
          </a:p>
          <a:p>
            <a:pPr algn="ctr"/>
            <a:r>
              <a:rPr lang="en-US" dirty="0"/>
              <a:t>AST</a:t>
            </a:r>
            <a:endParaRPr lang="ru-RU" dirty="0"/>
          </a:p>
        </p:txBody>
      </p:sp>
      <p:sp>
        <p:nvSpPr>
          <p:cNvPr id="4" name="Блок-схема: процесс 3">
            <a:extLst>
              <a:ext uri="{FF2B5EF4-FFF2-40B4-BE49-F238E27FC236}">
                <a16:creationId xmlns:a16="http://schemas.microsoft.com/office/drawing/2014/main" id="{0F3219E9-CA5A-5F51-9DED-4028AE38B600}"/>
              </a:ext>
            </a:extLst>
          </p:cNvPr>
          <p:cNvSpPr/>
          <p:nvPr/>
        </p:nvSpPr>
        <p:spPr>
          <a:xfrm>
            <a:off x="5433291" y="1108662"/>
            <a:ext cx="2094630" cy="79369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Промежуточное</a:t>
            </a:r>
          </a:p>
          <a:p>
            <a:pPr algn="ctr"/>
            <a:r>
              <a:rPr lang="ru-RU" dirty="0"/>
              <a:t>представление</a:t>
            </a:r>
          </a:p>
        </p:txBody>
      </p:sp>
      <p:sp>
        <p:nvSpPr>
          <p:cNvPr id="5" name="Блок-схема: процесс 4">
            <a:extLst>
              <a:ext uri="{FF2B5EF4-FFF2-40B4-BE49-F238E27FC236}">
                <a16:creationId xmlns:a16="http://schemas.microsoft.com/office/drawing/2014/main" id="{F4FC33AC-8326-7670-9603-8BB04DB1E65D}"/>
              </a:ext>
            </a:extLst>
          </p:cNvPr>
          <p:cNvSpPr/>
          <p:nvPr/>
        </p:nvSpPr>
        <p:spPr>
          <a:xfrm>
            <a:off x="7515747" y="2934396"/>
            <a:ext cx="1143744" cy="79369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Целевой</a:t>
            </a:r>
          </a:p>
          <a:p>
            <a:pPr algn="ctr"/>
            <a:r>
              <a:rPr lang="ru-RU" dirty="0"/>
              <a:t>код</a:t>
            </a:r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CA8FA9CA-15C3-34FA-1186-3F29524F2064}"/>
              </a:ext>
            </a:extLst>
          </p:cNvPr>
          <p:cNvSpPr/>
          <p:nvPr/>
        </p:nvSpPr>
        <p:spPr>
          <a:xfrm rot="4174755">
            <a:off x="3084117" y="2283442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C8BC9011-F6B7-755A-B1C6-47E63D7C33D7}"/>
              </a:ext>
            </a:extLst>
          </p:cNvPr>
          <p:cNvSpPr/>
          <p:nvPr/>
        </p:nvSpPr>
        <p:spPr>
          <a:xfrm rot="4174755">
            <a:off x="7189432" y="2314331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B93F0AF5-D6A1-0061-E34F-3BB891624DB4}"/>
              </a:ext>
            </a:extLst>
          </p:cNvPr>
          <p:cNvSpPr/>
          <p:nvPr/>
        </p:nvSpPr>
        <p:spPr>
          <a:xfrm rot="17820866">
            <a:off x="1973659" y="2261745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EC79C7C6-EAAB-049E-A51F-A497C0C6E6C4}"/>
              </a:ext>
            </a:extLst>
          </p:cNvPr>
          <p:cNvSpPr/>
          <p:nvPr/>
        </p:nvSpPr>
        <p:spPr>
          <a:xfrm rot="17820866">
            <a:off x="4948397" y="2314330"/>
            <a:ext cx="1100751" cy="20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1A8FD-BA7E-69A7-DD16-E725B60233D7}"/>
              </a:ext>
            </a:extLst>
          </p:cNvPr>
          <p:cNvSpPr txBox="1"/>
          <p:nvPr/>
        </p:nvSpPr>
        <p:spPr>
          <a:xfrm>
            <a:off x="609442" y="2210839"/>
            <a:ext cx="923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лексер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CC1285-A811-EB67-693E-D9C4D9FFE419}"/>
              </a:ext>
            </a:extLst>
          </p:cNvPr>
          <p:cNvSpPr txBox="1"/>
          <p:nvPr/>
        </p:nvSpPr>
        <p:spPr>
          <a:xfrm>
            <a:off x="2391033" y="2518079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парсер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EBF611-5B23-6480-B795-A219E30E262B}"/>
              </a:ext>
            </a:extLst>
          </p:cNvPr>
          <p:cNvSpPr txBox="1"/>
          <p:nvPr/>
        </p:nvSpPr>
        <p:spPr>
          <a:xfrm>
            <a:off x="3527136" y="1962086"/>
            <a:ext cx="1798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семантический</a:t>
            </a:r>
          </a:p>
          <a:p>
            <a:pPr algn="ctr"/>
            <a:r>
              <a:rPr lang="ru-RU" dirty="0"/>
              <a:t>анализ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2FE53B-4B27-C72B-5410-4126B497CD6F}"/>
              </a:ext>
            </a:extLst>
          </p:cNvPr>
          <p:cNvSpPr txBox="1"/>
          <p:nvPr/>
        </p:nvSpPr>
        <p:spPr>
          <a:xfrm>
            <a:off x="5433288" y="2343901"/>
            <a:ext cx="1547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оптимизатор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B13147-BEC7-DCDE-60D8-79FE9EC60593}"/>
              </a:ext>
            </a:extLst>
          </p:cNvPr>
          <p:cNvSpPr txBox="1"/>
          <p:nvPr/>
        </p:nvSpPr>
        <p:spPr>
          <a:xfrm>
            <a:off x="7703694" y="1767073"/>
            <a:ext cx="1260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выходной</a:t>
            </a:r>
          </a:p>
          <a:p>
            <a:pPr algn="ctr"/>
            <a:r>
              <a:rPr lang="ru-RU" dirty="0"/>
              <a:t>генератор</a:t>
            </a:r>
          </a:p>
        </p:txBody>
      </p:sp>
    </p:spTree>
    <p:extLst>
      <p:ext uri="{BB962C8B-B14F-4D97-AF65-F5344CB8AC3E}">
        <p14:creationId xmlns:p14="http://schemas.microsoft.com/office/powerpoint/2010/main" val="303588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55000" lnSpcReduction="20000"/>
          </a:bodyPr>
          <a:lstStyle/>
          <a:p>
            <a:pPr marL="36720" algn="ctr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 = (a + 1) * 2;</a:t>
            </a:r>
            <a:endParaRPr lang="en-US" sz="3000" spc="-1" dirty="0">
              <a:solidFill>
                <a:srgbClr val="FFFFFF"/>
              </a:solidFill>
              <a:latin typeface="Arial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Лексический анализ:</a:t>
            </a:r>
            <a:endParaRPr lang="en-US" sz="3000" b="0" strike="noStrike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	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поток токенов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	</a:t>
            </a:r>
            <a:r>
              <a:rPr lang="en-US" sz="3000" b="1" strike="noStrike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IDENT(y) ASSIGN LPAREN IDENT(a) PLUS INT(1) RPAREN STAR</a:t>
            </a:r>
            <a:r>
              <a:rPr lang="ru-RU" sz="3000" b="1" strike="noStrike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000" b="1" strike="noStrike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INT(2) SEMI</a:t>
            </a: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.</a:t>
            </a:r>
            <a:endParaRPr lang="ru-RU" sz="3000" b="1" strike="noStrike" spc="-1" dirty="0">
              <a:solidFill>
                <a:srgbClr val="FFFF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Синтаксический анализ:</a:t>
            </a:r>
            <a:endParaRPr lang="en-US" sz="3000" spc="-1" dirty="0">
              <a:solidFill>
                <a:srgbClr val="FFFFFF"/>
              </a:solidFill>
              <a:latin typeface="Arial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	AST </a:t>
            </a:r>
            <a:r>
              <a:rPr lang="en-US" sz="3000" spc="-1" dirty="0" err="1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присваивания</a:t>
            </a:r>
            <a:r>
              <a:rPr lang="en-US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 </a:t>
            </a:r>
            <a:r>
              <a:rPr lang="en-US" sz="3000" b="1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Assign(y, Mul(Add(a, 1), 2))</a:t>
            </a: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.</a:t>
            </a:r>
            <a:endParaRPr lang="ru-RU" sz="3000" b="1" spc="-1" dirty="0">
              <a:solidFill>
                <a:srgbClr val="FFFF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Семантический анализ:</a:t>
            </a:r>
            <a:endParaRPr lang="en-US" sz="3000" spc="-1" dirty="0">
              <a:solidFill>
                <a:srgbClr val="FFFFFF"/>
              </a:solidFill>
              <a:latin typeface="Arial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	</a:t>
            </a: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аннотированное AST и таблица символов с </a:t>
            </a:r>
            <a:r>
              <a:rPr lang="ru-RU" sz="3000" b="1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a:</a:t>
            </a:r>
            <a:r>
              <a:rPr lang="en-US" sz="3000" b="1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sz="3000" b="1" spc="-1" dirty="0" err="1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 и </a:t>
            </a:r>
            <a:r>
              <a:rPr lang="ru-RU" sz="3000" b="1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y:</a:t>
            </a:r>
            <a:r>
              <a:rPr lang="en-US" sz="3000" b="1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sz="3000" b="1" spc="-1" dirty="0" err="1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.</a:t>
            </a:r>
            <a:endParaRPr lang="ru-RU" sz="3000" b="1" spc="-1" dirty="0">
              <a:solidFill>
                <a:srgbClr val="FFFF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Промежуточное представление:</a:t>
            </a:r>
            <a:endParaRPr lang="en-US" sz="3000" spc="-1" dirty="0">
              <a:solidFill>
                <a:srgbClr val="FFFFFF"/>
              </a:solidFill>
              <a:latin typeface="Arial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pc="-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t1 = a + 1, t2 = t1 * 2, y = t2</a:t>
            </a: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.</a:t>
            </a:r>
            <a:endParaRPr lang="ru-RU" sz="3000" b="1" spc="-1" dirty="0">
              <a:solidFill>
                <a:srgbClr val="FFFF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Генерация кода:</a:t>
            </a:r>
            <a:endParaRPr lang="en-US" sz="3000" spc="-1" dirty="0">
              <a:solidFill>
                <a:srgbClr val="FFFFFF"/>
              </a:solidFill>
              <a:latin typeface="Arial"/>
              <a:ea typeface="Cambria Math" panose="02040503050406030204" pitchFamily="18" charset="0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	</a:t>
            </a:r>
            <a:r>
              <a:rPr lang="ru-RU" sz="3000" spc="-1" dirty="0">
                <a:solidFill>
                  <a:srgbClr val="FFFFFF"/>
                </a:solidFill>
                <a:latin typeface="Arial"/>
                <a:ea typeface="Cambria Math" panose="02040503050406030204" pitchFamily="18" charset="0"/>
              </a:rPr>
              <a:t>последовательность инструкций загрузки, сложения, умножения и записи 	результата.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7128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Верификация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Корректность транслятора.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Совпадение многих внутренних представлений.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Подтверждение соответствия заданным требованиям.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6301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Верификация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Подтверждение соответствия программы целям разработки формальными методами.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Не заменяет тестирование.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Требует помимо программы её формальную спецификацию.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1950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Исторический обзор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70000" lnSpcReduction="20000"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Фортран 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(Fortran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, Джон Бэкус,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 1954 — 1957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): первый язык высокого уровня, имеющий транслятор и получивший практическое применение.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Lex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(генератор </a:t>
            </a:r>
            <a:r>
              <a:rPr lang="ru-RU" sz="3000" b="0" strike="noStrike" spc="-1" dirty="0" err="1">
                <a:solidFill>
                  <a:srgbClr val="FFFFFF"/>
                </a:solidFill>
                <a:latin typeface="Arial"/>
              </a:rPr>
              <a:t>лексеров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, 1975)</a:t>
            </a: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 / </a:t>
            </a:r>
            <a:r>
              <a:rPr lang="en-US" sz="3000" b="0" strike="noStrike" spc="-1" dirty="0" err="1">
                <a:solidFill>
                  <a:srgbClr val="FFFFFF"/>
                </a:solidFill>
                <a:latin typeface="Arial"/>
              </a:rPr>
              <a:t>Yacc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 (генератор парсеров, 1970).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en-US" sz="3000" spc="-1" dirty="0">
                <a:solidFill>
                  <a:srgbClr val="FFFFFF"/>
                </a:solidFill>
                <a:latin typeface="Arial"/>
              </a:rPr>
              <a:t>GCC (GNU Compiler Collection, 1987) —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оптимизирующие компиляторы.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en-US" sz="3000" b="0" strike="noStrike" spc="-1" dirty="0">
                <a:solidFill>
                  <a:srgbClr val="FFFFFF"/>
                </a:solidFill>
                <a:latin typeface="Arial"/>
              </a:rPr>
              <a:t>LLVM (Low level virtual machine, 2003) — </a:t>
            </a:r>
            <a:r>
              <a:rPr lang="ru-RU" sz="3000" b="0" strike="noStrike" spc="-1" dirty="0">
                <a:solidFill>
                  <a:srgbClr val="FFFFFF"/>
                </a:solidFill>
                <a:latin typeface="Arial"/>
              </a:rPr>
              <a:t>модульная инфраструктура внутренних представлений и оптимизаций.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en-US" sz="3000" spc="-1" dirty="0">
                <a:solidFill>
                  <a:srgbClr val="FFFFFF"/>
                </a:solidFill>
                <a:latin typeface="Arial"/>
              </a:rPr>
              <a:t>JIT, MLIR (Multi-level intermediate representation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2010…), безопасные языки (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Rust).</a:t>
            </a:r>
            <a:endParaRPr lang="ru-RU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Введение в трансляцию и компиляторы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99817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590</TotalTime>
  <Words>943</Words>
  <Application>Microsoft Office PowerPoint</Application>
  <PresentationFormat>Экран (16:9)</PresentationFormat>
  <Paragraphs>140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Aptos</vt:lpstr>
      <vt:lpstr>Arial</vt:lpstr>
      <vt:lpstr>Cambria Math</vt:lpstr>
      <vt:lpstr>Franklin Gothic Book</vt:lpstr>
      <vt:lpstr>Times New Roman</vt:lpstr>
      <vt:lpstr>Wingdings 2</vt:lpstr>
      <vt:lpstr>Техническая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IVM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ТРАНСЛЯЦИИ И КОМПИЛЯЦИИ</dc:title>
  <dc:subject/>
  <dc:creator>Марьясов</dc:creator>
  <dc:description/>
  <cp:lastModifiedBy>i.v.m. i.v.m.</cp:lastModifiedBy>
  <cp:revision>335</cp:revision>
  <dcterms:created xsi:type="dcterms:W3CDTF">2022-09-13T16:50:05Z</dcterms:created>
  <dcterms:modified xsi:type="dcterms:W3CDTF">2026-09-19T03:05:08Z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IVM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Экран (16:9)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26</vt:i4>
  </property>
</Properties>
</file>